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5" r:id="rId9"/>
    <p:sldId id="263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F35"/>
    <a:srgbClr val="4E5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4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58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53CB-5477-3107-DF52-D26E67AF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D1883-655F-7BE0-CCB4-521F2B132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D4D6B-174A-A8B0-3D28-4C9241641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D8CF2-BD4D-B4C4-95D6-2A06EEA40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36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9292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5265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9245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2164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3732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64643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21360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0647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7550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37551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7150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70557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0071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5442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2625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0207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5797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AA30B-5898-4005-AB8C-405E942D92F5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1FCD6-4D39-44A7-A016-3024A8214B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363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  <p:sldLayoutId id="2147483988" r:id="rId16"/>
    <p:sldLayoutId id="2147483989" r:id="rId17"/>
    <p:sldLayoutId id="2147483990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89D8CE-283C-539F-413C-369FB4EEC4C5}"/>
              </a:ext>
            </a:extLst>
          </p:cNvPr>
          <p:cNvSpPr/>
          <p:nvPr/>
        </p:nvSpPr>
        <p:spPr>
          <a:xfrm>
            <a:off x="7429279" y="1584779"/>
            <a:ext cx="3679886" cy="304430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04F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6"/>
          <p:cNvSpPr/>
          <p:nvPr/>
        </p:nvSpPr>
        <p:spPr>
          <a:xfrm>
            <a:off x="812800" y="1657091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 ORGANIZE ASSISTANT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119643"/>
            <a:ext cx="10883392" cy="1998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70"/>
              </a:lnSpc>
              <a:buNone/>
            </a:pPr>
            <a:r>
              <a:rPr lang="en-US" sz="74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おまかせ</a:t>
            </a:r>
            <a:endParaRPr lang="en-US" sz="7400" dirty="0"/>
          </a:p>
          <a:p>
            <a:pPr marL="0" indent="0" algn="l">
              <a:lnSpc>
                <a:spcPts val="7770"/>
              </a:lnSpc>
              <a:buNone/>
            </a:pPr>
            <a:r>
              <a:rPr lang="en-US" sz="74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</a:t>
            </a:r>
            <a:r>
              <a:rPr lang="en-US" sz="7400" b="1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Bot</a:t>
            </a:r>
            <a:endParaRPr lang="en-US" sz="7400" dirty="0"/>
          </a:p>
        </p:txBody>
      </p:sp>
      <p:sp>
        <p:nvSpPr>
          <p:cNvPr id="10" name="Text 8"/>
          <p:cNvSpPr/>
          <p:nvPr/>
        </p:nvSpPr>
        <p:spPr>
          <a:xfrm>
            <a:off x="812800" y="4270970"/>
            <a:ext cx="6540500" cy="7162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0"/>
              </a:lnSpc>
              <a:buNone/>
            </a:pPr>
            <a:r>
              <a:rPr lang="en-US" sz="1700" dirty="0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ダウンロードフォルダに溜まるファイルを、AIが自動で仕分け。</a:t>
            </a:r>
            <a:endParaRPr lang="en-US" sz="1700" dirty="0"/>
          </a:p>
          <a:p>
            <a:pPr marL="0" indent="0" algn="l">
              <a:lnSpc>
                <a:spcPts val="2720"/>
              </a:lnSpc>
              <a:buNone/>
            </a:pPr>
            <a:r>
              <a:rPr lang="en-US" sz="1700" dirty="0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探す手間も、片付ける手間も、まるごとおまかせ。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2468" y="6590601"/>
            <a:ext cx="2341976" cy="256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9737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チーム：Belphegor（金の卵）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2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680CEA5-49DC-1818-F8CB-E599CC66C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88" y="752639"/>
            <a:ext cx="4685781" cy="4234558"/>
          </a:xfrm>
          <a:prstGeom prst="rect">
            <a:avLst/>
          </a:prstGeom>
          <a:ln>
            <a:noFill/>
          </a:ln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21CF10CF-1AAA-4736-23F7-D44306F1F245}"/>
              </a:ext>
            </a:extLst>
          </p:cNvPr>
          <p:cNvSpPr/>
          <p:nvPr/>
        </p:nvSpPr>
        <p:spPr>
          <a:xfrm>
            <a:off x="8290945" y="1901940"/>
            <a:ext cx="2728736" cy="25742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720"/>
              </a:lnSpc>
              <a:buNone/>
            </a:pPr>
            <a:r>
              <a:rPr lang="en-US" sz="4000" b="1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</a:rPr>
              <a:t>M</a:t>
            </a:r>
            <a:r>
              <a:rPr lang="en-US" sz="4000" b="1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</a:rPr>
              <a:t>y</a:t>
            </a:r>
          </a:p>
          <a:p>
            <a:pPr marL="0" indent="0" algn="l">
              <a:lnSpc>
                <a:spcPts val="2720"/>
              </a:lnSpc>
              <a:buNone/>
            </a:pPr>
            <a:endParaRPr lang="en-US" sz="4000" b="1">
              <a:solidFill>
                <a:srgbClr val="4E5965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lnSpc>
                <a:spcPts val="2720"/>
              </a:lnSpc>
              <a:buNone/>
            </a:pPr>
            <a:r>
              <a:rPr lang="en-US" sz="4000" b="1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</a:rPr>
              <a:t>O</a:t>
            </a:r>
            <a:r>
              <a:rPr lang="en-US" sz="4000" b="1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</a:rPr>
              <a:t>rganizer</a:t>
            </a:r>
          </a:p>
          <a:p>
            <a:pPr marL="0" indent="0" algn="l">
              <a:lnSpc>
                <a:spcPts val="2720"/>
              </a:lnSpc>
              <a:buNone/>
            </a:pPr>
            <a:endParaRPr lang="en-US" sz="4000" b="1">
              <a:solidFill>
                <a:srgbClr val="F04F35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lnSpc>
                <a:spcPts val="2720"/>
              </a:lnSpc>
              <a:buNone/>
            </a:pPr>
            <a:r>
              <a:rPr lang="en-US" sz="4000" b="1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</a:rPr>
              <a:t>F</a:t>
            </a:r>
            <a:r>
              <a:rPr lang="en-US" sz="4000" b="1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</a:rPr>
              <a:t>or</a:t>
            </a:r>
          </a:p>
          <a:p>
            <a:pPr marL="0" indent="0" algn="l">
              <a:lnSpc>
                <a:spcPts val="2720"/>
              </a:lnSpc>
              <a:buNone/>
            </a:pPr>
            <a:endParaRPr lang="en-US" sz="4000" b="1">
              <a:solidFill>
                <a:srgbClr val="F04F35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lnSpc>
                <a:spcPts val="2720"/>
              </a:lnSpc>
              <a:buNone/>
            </a:pPr>
            <a:r>
              <a:rPr lang="en-US" sz="4000" b="1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</a:rPr>
              <a:t>U</a:t>
            </a:r>
            <a:r>
              <a:rPr lang="en-US" sz="4000" b="1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</a:rPr>
              <a:t>(you)</a:t>
            </a:r>
            <a:r>
              <a:rPr lang="ja-JP" altLang="en-US" sz="4000" b="1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</a:rPr>
              <a:t>　　　　</a:t>
            </a:r>
            <a:endParaRPr lang="en-US" sz="4000" b="1" dirty="0">
              <a:solidFill>
                <a:srgbClr val="4E596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386526"/>
            <a:ext cx="10883392" cy="575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ja-JP" altLang="en-US" sz="32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</a:rPr>
              <a:t>ダウンロードフォルダどうなってますか？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05923"/>
            <a:ext cx="3380317" cy="3432903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833" y="2711781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6" name="Text 3"/>
          <p:cNvSpPr/>
          <p:nvPr/>
        </p:nvSpPr>
        <p:spPr>
          <a:xfrm>
            <a:off x="1121833" y="3219781"/>
            <a:ext cx="2851658" cy="284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探す時間が積み重なる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21833" y="3631208"/>
            <a:ext cx="2851658" cy="5536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欲しいファイルがどこにあるか分からず、フォルダを何度も開き直す。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42" y="2405923"/>
            <a:ext cx="3380317" cy="3432903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1700" y="2711781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10" name="Text 6"/>
          <p:cNvSpPr/>
          <p:nvPr/>
        </p:nvSpPr>
        <p:spPr>
          <a:xfrm>
            <a:off x="4711700" y="3219781"/>
            <a:ext cx="2851658" cy="284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「あとで整理」が積もる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11700" y="3631208"/>
            <a:ext cx="2851658" cy="5536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ダウンロードのたびに後回しにして、フォルダが荒れていく一方に。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09" y="2405923"/>
            <a:ext cx="3380317" cy="3432903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01567" y="2711781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8301567" y="3219781"/>
            <a:ext cx="2851658" cy="284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消す判断ができない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01567" y="3631208"/>
            <a:ext cx="2851658" cy="5536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似たファイルが増え続けても、消していいか分からず放置してしまう。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6584CD5-3C31-9DB9-A987-D4DA77841948}"/>
              </a:ext>
            </a:extLst>
          </p:cNvPr>
          <p:cNvSpPr txBox="1"/>
          <p:nvPr/>
        </p:nvSpPr>
        <p:spPr>
          <a:xfrm>
            <a:off x="8419381" y="625415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ご提案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307"/>
            <a:ext cx="10883392" cy="930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ダウンロードフォルダに、</a:t>
            </a:r>
            <a:endParaRPr lang="en-US" sz="3100" dirty="0"/>
          </a:p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AIの整理担当を常駐させる。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12800" y="2322711"/>
            <a:ext cx="981075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ja-JP" sz="1500" dirty="0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MOFU</a:t>
            </a:r>
            <a:r>
              <a:rPr lang="en-US" sz="1500" dirty="0">
                <a:solidFill>
                  <a:srgbClr val="4E59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は、新しいファイルが増えるたびにAIが中身を読み取り、自動でカテゴリ分け・保存まで行う常駐アプリです。整理のその先、検索や片付けまで会話するようにおまかせできます。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3227586"/>
            <a:ext cx="3380317" cy="2611239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Activit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6433" y="3508045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096433" y="3965245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自動仕分け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6433" y="4336058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内容を読み取り、カテゴリへ自動で保存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5842" y="3227586"/>
            <a:ext cx="3380317" cy="2611239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6300" y="3508045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4686300" y="3965245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会話で検索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86300" y="4336058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自然な日本語で、ファイルを呼び出せる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95709" y="3227586"/>
            <a:ext cx="3380317" cy="2611239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Trus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6167" y="3508045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5" name="Text 10"/>
          <p:cNvSpPr/>
          <p:nvPr/>
        </p:nvSpPr>
        <p:spPr>
          <a:xfrm>
            <a:off x="8276167" y="3965245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片付けタイム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76167" y="4336058"/>
            <a:ext cx="2903982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放置ファイルを提案し、安全に手放す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307"/>
            <a:ext cx="10883392" cy="478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検出から保存まで、人の手を挟まない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68375" y="2493725"/>
            <a:ext cx="3075517" cy="2082271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Activit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8833" y="2774184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6" name="Text 3"/>
          <p:cNvSpPr/>
          <p:nvPr/>
        </p:nvSpPr>
        <p:spPr>
          <a:xfrm>
            <a:off x="1248833" y="3180584"/>
            <a:ext cx="2590038" cy="220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48833" y="3477711"/>
            <a:ext cx="2590038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48833" y="3807911"/>
            <a:ext cx="2590038" cy="5130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新しいファイルをその場で検知します</a:t>
            </a:r>
            <a:endParaRPr lang="en-US" sz="1200" dirty="0"/>
          </a:p>
        </p:txBody>
      </p:sp>
      <p:pic>
        <p:nvPicPr>
          <p:cNvPr id="9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99467" y="3458661"/>
            <a:ext cx="355600" cy="152400"/>
          </a:xfrm>
          <a:prstGeom prst="rect">
            <a:avLst/>
          </a:prstGeom>
          <a:ln>
            <a:noFill/>
          </a:ln>
        </p:spPr>
      </p:pic>
      <p:sp>
        <p:nvSpPr>
          <p:cNvPr id="10" name="Shape 6"/>
          <p:cNvSpPr/>
          <p:nvPr/>
        </p:nvSpPr>
        <p:spPr>
          <a:xfrm>
            <a:off x="4710642" y="2493725"/>
            <a:ext cx="3075517" cy="2082271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91100" y="2774184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2" name="Text 7"/>
          <p:cNvSpPr/>
          <p:nvPr/>
        </p:nvSpPr>
        <p:spPr>
          <a:xfrm>
            <a:off x="4991100" y="3180584"/>
            <a:ext cx="2590038" cy="220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91100" y="3477711"/>
            <a:ext cx="2590038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内容確認・分類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991100" y="3807911"/>
            <a:ext cx="2590038" cy="5130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中身をAIが読み取り、カテゴリと要約を判定</a:t>
            </a:r>
            <a:endParaRPr lang="en-US" sz="12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41734" y="3458661"/>
            <a:ext cx="355600" cy="152400"/>
          </a:xfrm>
          <a:prstGeom prst="rect">
            <a:avLst/>
          </a:prstGeom>
          <a:ln>
            <a:noFill/>
          </a:ln>
        </p:spPr>
      </p:pic>
      <p:sp>
        <p:nvSpPr>
          <p:cNvPr id="16" name="Shape 10"/>
          <p:cNvSpPr/>
          <p:nvPr/>
        </p:nvSpPr>
        <p:spPr>
          <a:xfrm>
            <a:off x="8452909" y="2493725"/>
            <a:ext cx="3075517" cy="2082271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CheckCircl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33367" y="2774184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8" name="Text 11"/>
          <p:cNvSpPr/>
          <p:nvPr/>
        </p:nvSpPr>
        <p:spPr>
          <a:xfrm>
            <a:off x="8733367" y="3180584"/>
            <a:ext cx="2590038" cy="220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8733367" y="3477711"/>
            <a:ext cx="2590038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保存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733367" y="3807911"/>
            <a:ext cx="2590038" cy="5130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カテゴリのフォルダへ移動し記録します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ja-JP" alt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</a:rPr>
              <a:t>しくみ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309"/>
            <a:ext cx="10883392" cy="478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ja-JP" altLang="en-US" sz="3100" b="1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</a:rPr>
              <a:t>内容確認・分類を確実なものに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12800" y="1923986"/>
            <a:ext cx="4769908" cy="1743472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769" y="2233193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10" name="Text 6"/>
          <p:cNvSpPr/>
          <p:nvPr/>
        </p:nvSpPr>
        <p:spPr>
          <a:xfrm>
            <a:off x="1123769" y="2741193"/>
            <a:ext cx="2851658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表記ゆれを自動統合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23769" y="3137408"/>
            <a:ext cx="3979454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似た意味のカテゴリ名は、既存のものへまとめます。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606119" y="1923986"/>
            <a:ext cx="4769907" cy="1743472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95281" y="2229842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6995281" y="2737842"/>
            <a:ext cx="2851658" cy="269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分類ミスも訂正可能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995281" y="3134057"/>
            <a:ext cx="4214718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入れ先が違っても、あとから別カテゴリへ移し直せます。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乗算記号 17">
            <a:extLst>
              <a:ext uri="{FF2B5EF4-FFF2-40B4-BE49-F238E27FC236}">
                <a16:creationId xmlns:a16="http://schemas.microsoft.com/office/drawing/2014/main" id="{7A628950-06CF-04ED-6E2D-4787A9F0ACFA}"/>
              </a:ext>
            </a:extLst>
          </p:cNvPr>
          <p:cNvSpPr/>
          <p:nvPr/>
        </p:nvSpPr>
        <p:spPr>
          <a:xfrm>
            <a:off x="5637213" y="2096007"/>
            <a:ext cx="914400" cy="914400"/>
          </a:xfrm>
          <a:prstGeom prst="mathMultiply">
            <a:avLst/>
          </a:prstGeom>
          <a:solidFill>
            <a:srgbClr val="F04F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04F35"/>
              </a:solidFill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9725CD6-4FFE-16D2-65D6-05AC4F024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315" y="4036303"/>
            <a:ext cx="3336649" cy="24406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 </a:t>
            </a:r>
            <a:r>
              <a:rPr lang="ja-JP" alt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309"/>
            <a:ext cx="10883392" cy="478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「先週の資料」で、ちゃんと見つかる</a:t>
            </a:r>
            <a:endParaRPr lang="en-US" sz="3100" dirty="0"/>
          </a:p>
        </p:txBody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67038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5" name="Text 2"/>
          <p:cNvSpPr/>
          <p:nvPr/>
        </p:nvSpPr>
        <p:spPr>
          <a:xfrm>
            <a:off x="1168400" y="2967038"/>
            <a:ext cx="4302355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「先週」「PDFで」といった言い回しから、期間や種類を自動で読み取る</a:t>
            </a:r>
            <a:endParaRPr lang="en-US" sz="1350" dirty="0"/>
          </a:p>
        </p:txBody>
      </p:sp>
      <p:pic>
        <p:nvPicPr>
          <p:cNvPr id="6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744252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7" name="Text 3"/>
          <p:cNvSpPr/>
          <p:nvPr/>
        </p:nvSpPr>
        <p:spPr>
          <a:xfrm>
            <a:off x="1168400" y="3744252"/>
            <a:ext cx="4302355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意味の近い内容を優先して並べ、見当違いの結果を出さない</a:t>
            </a:r>
            <a:endParaRPr lang="en-US" sz="1350" dirty="0"/>
          </a:p>
        </p:txBody>
      </p:sp>
      <p:pic>
        <p:nvPicPr>
          <p:cNvPr id="8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521467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9" name="Text 4"/>
          <p:cNvSpPr/>
          <p:nvPr/>
        </p:nvSpPr>
        <p:spPr>
          <a:xfrm>
            <a:off x="1168400" y="4521467"/>
            <a:ext cx="4302355" cy="2997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見つかったら、その場で開く・保存場所を表示できる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200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016018DB-35F7-376E-AF99-7970E1FF0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690560"/>
            <a:ext cx="4692964" cy="5111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 </a:t>
            </a:r>
            <a:r>
              <a:rPr lang="ja-JP" alt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309"/>
            <a:ext cx="10883392" cy="478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放置ファイルは、AIが見つけて聞いてくれる</a:t>
            </a:r>
            <a:endParaRPr lang="en-US" sz="3100" dirty="0"/>
          </a:p>
        </p:txBody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855252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5" name="Text 2"/>
          <p:cNvSpPr/>
          <p:nvPr/>
        </p:nvSpPr>
        <p:spPr>
          <a:xfrm>
            <a:off x="1168400" y="2855252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30日以上開いていない、または同じ内容の重複ファイルだけを対象にする</a:t>
            </a:r>
            <a:endParaRPr lang="en-US" sz="1350" dirty="0"/>
          </a:p>
        </p:txBody>
      </p:sp>
      <p:pic>
        <p:nvPicPr>
          <p:cNvPr id="6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607067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7" name="Text 3"/>
          <p:cNvSpPr/>
          <p:nvPr/>
        </p:nvSpPr>
        <p:spPr>
          <a:xfrm>
            <a:off x="1168400" y="3607067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理由を添えて1件ずつ提示し、「残す」か「ごみ箱へ」を選ぶだけ</a:t>
            </a:r>
            <a:endParaRPr lang="en-US" sz="1350" dirty="0"/>
          </a:p>
        </p:txBody>
      </p:sp>
      <p:pic>
        <p:nvPicPr>
          <p:cNvPr id="8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358878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9" name="Text 4"/>
          <p:cNvSpPr/>
          <p:nvPr/>
        </p:nvSpPr>
        <p:spPr>
          <a:xfrm>
            <a:off x="1168400" y="4358878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「ごみ箱へ」は専用フォルダへの退避のみ。即座に削除はしない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6007233" y="2829654"/>
            <a:ext cx="5368793" cy="972344"/>
          </a:xfrm>
          <a:prstGeom prst="roundRect">
            <a:avLst>
              <a:gd name="adj" fmla="val 12735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/>
          <p:nvPr/>
        </p:nvSpPr>
        <p:spPr>
          <a:xfrm>
            <a:off x="6211491" y="3070755"/>
            <a:ext cx="1635654" cy="23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契約書_下書き.docx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10046494" y="3033911"/>
            <a:ext cx="1125273" cy="279400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0160794" y="3084711"/>
            <a:ext cx="947473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31日未アクセス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211491" y="3402211"/>
            <a:ext cx="5109085" cy="220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理由：31日間、一度も開かれていません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07233" y="3960747"/>
            <a:ext cx="5368793" cy="972344"/>
          </a:xfrm>
          <a:prstGeom prst="roundRect">
            <a:avLst>
              <a:gd name="adj" fmla="val 12735"/>
            </a:avLst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6211491" y="4201849"/>
            <a:ext cx="1202664" cy="23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提案書_v2.pdf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10435167" y="4165005"/>
            <a:ext cx="736600" cy="279400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10549467" y="4215805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重複あり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211491" y="4533305"/>
            <a:ext cx="5109085" cy="220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F69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理由：「提案資料」に同じ内容のファイルがあります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1C14F-AC88-ACB2-3ECE-CD705642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F540FC9-FFC5-8591-89EF-60D5E632917B}"/>
              </a:ext>
            </a:extLst>
          </p:cNvPr>
          <p:cNvSpPr/>
          <p:nvPr/>
        </p:nvSpPr>
        <p:spPr>
          <a:xfrm>
            <a:off x="812800" y="1163309"/>
            <a:ext cx="10883392" cy="478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65"/>
              </a:lnSpc>
              <a:buNone/>
            </a:pPr>
            <a:r>
              <a:rPr lang="ja-JP" altLang="en-US" sz="3100" b="1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</a:rPr>
              <a:t>デモンストレーション</a:t>
            </a:r>
            <a:endParaRPr lang="en-US" sz="3100" dirty="0"/>
          </a:p>
        </p:txBody>
      </p:sp>
      <p:pic>
        <p:nvPicPr>
          <p:cNvPr id="4" name="Image 0" descr="CheckCircle">
            <a:extLst>
              <a:ext uri="{FF2B5EF4-FFF2-40B4-BE49-F238E27FC236}">
                <a16:creationId xmlns:a16="http://schemas.microsoft.com/office/drawing/2014/main" id="{7112D032-57F9-B7A0-80D7-ADEC04E875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855252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C3BD192-5C47-D277-DFB5-3D17EB7B0ABB}"/>
              </a:ext>
            </a:extLst>
          </p:cNvPr>
          <p:cNvSpPr/>
          <p:nvPr/>
        </p:nvSpPr>
        <p:spPr>
          <a:xfrm>
            <a:off x="1168400" y="2855252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ダウンロードしたファイルの分類</a:t>
            </a:r>
            <a:endParaRPr lang="en-US" sz="1350" dirty="0"/>
          </a:p>
        </p:txBody>
      </p:sp>
      <p:pic>
        <p:nvPicPr>
          <p:cNvPr id="6" name="Image 1" descr="CheckCircle">
            <a:extLst>
              <a:ext uri="{FF2B5EF4-FFF2-40B4-BE49-F238E27FC236}">
                <a16:creationId xmlns:a16="http://schemas.microsoft.com/office/drawing/2014/main" id="{9ED38129-B405-0BF4-BC65-4B48BC614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607067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1B441F8-4848-4384-FC72-000A160E9359}"/>
              </a:ext>
            </a:extLst>
          </p:cNvPr>
          <p:cNvSpPr/>
          <p:nvPr/>
        </p:nvSpPr>
        <p:spPr>
          <a:xfrm>
            <a:off x="1168400" y="3607067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ファイルの内容を添えて提示し、カテゴリー分けして保存</a:t>
            </a:r>
            <a:endParaRPr lang="en-US" sz="1350" dirty="0"/>
          </a:p>
        </p:txBody>
      </p:sp>
      <p:pic>
        <p:nvPicPr>
          <p:cNvPr id="8" name="Image 2" descr="CheckCircle">
            <a:extLst>
              <a:ext uri="{FF2B5EF4-FFF2-40B4-BE49-F238E27FC236}">
                <a16:creationId xmlns:a16="http://schemas.microsoft.com/office/drawing/2014/main" id="{B49E7F37-BCFD-0F68-F845-3B046C6E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5110697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449A1F4D-E2A8-92BA-224B-2CA2735EBCF5}"/>
              </a:ext>
            </a:extLst>
          </p:cNvPr>
          <p:cNvSpPr/>
          <p:nvPr/>
        </p:nvSpPr>
        <p:spPr>
          <a:xfrm>
            <a:off x="1168400" y="5110697"/>
            <a:ext cx="5754914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お片付け機能</a:t>
            </a:r>
            <a:r>
              <a:rPr lang="en-US" altLang="ja-JP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(30日以上開いていない</a:t>
            </a: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altLang="ja-JP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重複ファイル</a:t>
            </a: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の削除提案</a:t>
            </a:r>
            <a:r>
              <a:rPr lang="en-US" altLang="ja-JP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altLang="ja-JP" sz="1350"/>
          </a:p>
          <a:p>
            <a:pPr marL="0" indent="0" algn="l">
              <a:lnSpc>
                <a:spcPts val="2160"/>
              </a:lnSpc>
              <a:buNone/>
            </a:pPr>
            <a:endParaRPr lang="en-US" sz="13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21450E8-39F5-E11B-F0DF-B4C36FC46973}"/>
              </a:ext>
            </a:extLst>
          </p:cNvPr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2B7C560-0D44-F7CC-C967-F1A859E67D96}"/>
              </a:ext>
            </a:extLst>
          </p:cNvPr>
          <p:cNvSpPr/>
          <p:nvPr/>
        </p:nvSpPr>
        <p:spPr>
          <a:xfrm>
            <a:off x="812800" y="2213968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ja-JP" altLang="en-US" sz="1400" b="1" kern="0" spc="10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14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05EEB38-A4EA-EA81-F463-7E10D15F5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232" y="2429973"/>
            <a:ext cx="2906350" cy="2928202"/>
          </a:xfrm>
          <a:prstGeom prst="rect">
            <a:avLst/>
          </a:prstGeom>
        </p:spPr>
      </p:pic>
      <p:pic>
        <p:nvPicPr>
          <p:cNvPr id="26" name="Image 1" descr="CheckCircle">
            <a:extLst>
              <a:ext uri="{FF2B5EF4-FFF2-40B4-BE49-F238E27FC236}">
                <a16:creationId xmlns:a16="http://schemas.microsoft.com/office/drawing/2014/main" id="{19DA528C-C6F9-51FB-9C13-2C6BCB09B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358882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829E629F-29B3-2D1C-1BC9-94C383413FD6}"/>
              </a:ext>
            </a:extLst>
          </p:cNvPr>
          <p:cNvSpPr/>
          <p:nvPr/>
        </p:nvSpPr>
        <p:spPr>
          <a:xfrm>
            <a:off x="1168400" y="4358882"/>
            <a:ext cx="4666783" cy="574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チャットで保存したファイルの操作 </a:t>
            </a:r>
            <a:r>
              <a:rPr lang="en-US" altLang="ja-JP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(</a:t>
            </a: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開く・移動・削除</a:t>
            </a:r>
            <a:r>
              <a:rPr lang="en-US" altLang="ja-JP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) </a:t>
            </a:r>
            <a:r>
              <a:rPr lang="ja-JP" altLang="en-US" sz="1350">
                <a:solidFill>
                  <a:srgbClr val="25313D"/>
                </a:solidFill>
                <a:latin typeface="Noto Sans JP" pitchFamily="34" charset="0"/>
                <a:ea typeface="Noto Sans JP" pitchFamily="34" charset="-122"/>
              </a:rPr>
              <a:t>可能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0118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9F2C03C-E681-DF2A-2875-6BEF28554147}"/>
              </a:ext>
            </a:extLst>
          </p:cNvPr>
          <p:cNvGrpSpPr/>
          <p:nvPr/>
        </p:nvGrpSpPr>
        <p:grpSpPr>
          <a:xfrm>
            <a:off x="569831" y="2879962"/>
            <a:ext cx="11183837" cy="2568551"/>
            <a:chOff x="557349" y="3185808"/>
            <a:chExt cx="11183837" cy="2568551"/>
          </a:xfrm>
        </p:grpSpPr>
        <p:sp>
          <p:nvSpPr>
            <p:cNvPr id="37" name="四角形: 角を丸くする 36">
              <a:extLst>
                <a:ext uri="{FF2B5EF4-FFF2-40B4-BE49-F238E27FC236}">
                  <a16:creationId xmlns:a16="http://schemas.microsoft.com/office/drawing/2014/main" id="{78560AC6-B2BA-7B64-7DB9-FFD06F2EE5B7}"/>
                </a:ext>
              </a:extLst>
            </p:cNvPr>
            <p:cNvSpPr/>
            <p:nvPr/>
          </p:nvSpPr>
          <p:spPr>
            <a:xfrm>
              <a:off x="557349" y="3185808"/>
              <a:ext cx="11059884" cy="2568551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rgbClr val="F04F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Text 0"/>
            <p:cNvSpPr/>
            <p:nvPr/>
          </p:nvSpPr>
          <p:spPr>
            <a:xfrm>
              <a:off x="857794" y="3291386"/>
              <a:ext cx="10883392" cy="274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 kern="0" spc="100">
                  <a:solidFill>
                    <a:srgbClr val="F04F3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導入</a:t>
              </a:r>
              <a:r>
                <a:rPr lang="ja-JP" altLang="en-US" sz="1400" b="1" kern="0" spc="100">
                  <a:solidFill>
                    <a:srgbClr val="F04F3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メリット</a:t>
              </a:r>
              <a:endParaRPr lang="en-US" sz="1400" dirty="0"/>
            </a:p>
          </p:txBody>
        </p:sp>
        <p:pic>
          <p:nvPicPr>
            <p:cNvPr id="4" name="Image 0" descr="Warni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2800" y="3794261"/>
              <a:ext cx="254000" cy="25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Text 2"/>
            <p:cNvSpPr/>
            <p:nvPr/>
          </p:nvSpPr>
          <p:spPr>
            <a:xfrm>
              <a:off x="1168400" y="3791746"/>
              <a:ext cx="914400" cy="284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40"/>
                </a:lnSpc>
                <a:buNone/>
              </a:pPr>
              <a:r>
                <a:rPr lang="en-US" sz="1700" b="1" dirty="0">
                  <a:solidFill>
                    <a:srgbClr val="4E596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これまで</a:t>
              </a:r>
              <a:endParaRPr lang="en-US" sz="1700" dirty="0"/>
            </a:p>
          </p:txBody>
        </p:sp>
        <p:pic>
          <p:nvPicPr>
            <p:cNvPr id="6" name="Image 1" descr="Warni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12800" y="425397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 3"/>
            <p:cNvSpPr/>
            <p:nvPr/>
          </p:nvSpPr>
          <p:spPr>
            <a:xfrm>
              <a:off x="1104900" y="425397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en-US" sz="1600" dirty="0">
                  <a:solidFill>
                    <a:srgbClr val="5F697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ファイルを開くたび、整理を後回しにする</a:t>
              </a:r>
              <a:endParaRPr lang="en-US" sz="1600" dirty="0"/>
            </a:p>
          </p:txBody>
        </p:sp>
        <p:pic>
          <p:nvPicPr>
            <p:cNvPr id="8" name="Image 2" descr="Warni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12800" y="472129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 4"/>
            <p:cNvSpPr/>
            <p:nvPr/>
          </p:nvSpPr>
          <p:spPr>
            <a:xfrm>
              <a:off x="1104900" y="472129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en-US" sz="1300" dirty="0">
                  <a:solidFill>
                    <a:srgbClr val="5F697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探すために、同じフォルダを何度も掘り返す</a:t>
              </a:r>
              <a:endParaRPr lang="en-US" sz="1300" dirty="0"/>
            </a:p>
          </p:txBody>
        </p:sp>
        <p:pic>
          <p:nvPicPr>
            <p:cNvPr id="10" name="Image 3" descr="Warni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12800" y="518861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Text 5"/>
            <p:cNvSpPr/>
            <p:nvPr/>
          </p:nvSpPr>
          <p:spPr>
            <a:xfrm>
              <a:off x="1104900" y="518861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en-US" sz="1300" dirty="0">
                  <a:solidFill>
                    <a:srgbClr val="5F697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消していいか毎回悩み、判断に時間を取られる</a:t>
              </a:r>
              <a:endParaRPr lang="en-US" sz="1300" dirty="0"/>
            </a:p>
          </p:txBody>
        </p:sp>
        <p:sp>
          <p:nvSpPr>
            <p:cNvPr id="12" name="Shape 6"/>
            <p:cNvSpPr/>
            <p:nvPr/>
          </p:nvSpPr>
          <p:spPr>
            <a:xfrm>
              <a:off x="6056631" y="3249753"/>
              <a:ext cx="45719" cy="2419528"/>
            </a:xfrm>
            <a:prstGeom prst="rect">
              <a:avLst/>
            </a:prstGeom>
            <a:solidFill>
              <a:srgbClr val="EEF1F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" name="Image 4" descr="CheckCircle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457950" y="3794261"/>
              <a:ext cx="254000" cy="25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" name="Text 7"/>
            <p:cNvSpPr/>
            <p:nvPr/>
          </p:nvSpPr>
          <p:spPr>
            <a:xfrm>
              <a:off x="6813550" y="3791746"/>
              <a:ext cx="698500" cy="284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40"/>
                </a:lnSpc>
                <a:buNone/>
              </a:pPr>
              <a:r>
                <a:rPr lang="en-US" sz="1700" b="1" dirty="0">
                  <a:solidFill>
                    <a:srgbClr val="17202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導入後</a:t>
              </a:r>
              <a:endParaRPr lang="en-US" sz="1700" dirty="0"/>
            </a:p>
          </p:txBody>
        </p:sp>
        <p:pic>
          <p:nvPicPr>
            <p:cNvPr id="15" name="Image 5" descr="CheckCircle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57950" y="425397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6" name="Text 8"/>
            <p:cNvSpPr/>
            <p:nvPr/>
          </p:nvSpPr>
          <p:spPr>
            <a:xfrm>
              <a:off x="6750050" y="425397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en-US" sz="1600" dirty="0">
                  <a:solidFill>
                    <a:srgbClr val="25313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ダウンロードした瞬間に、自動で仕分けが完了</a:t>
              </a:r>
              <a:endParaRPr lang="en-US" sz="1600" dirty="0"/>
            </a:p>
          </p:txBody>
        </p:sp>
        <p:pic>
          <p:nvPicPr>
            <p:cNvPr id="17" name="Image 6" descr="CheckCircle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57950" y="472129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Text 9"/>
            <p:cNvSpPr/>
            <p:nvPr/>
          </p:nvSpPr>
          <p:spPr>
            <a:xfrm>
              <a:off x="6750050" y="472129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en-US" sz="1300" dirty="0">
                  <a:solidFill>
                    <a:srgbClr val="25313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話しかけるように探すだけで、見つかる</a:t>
              </a:r>
              <a:endParaRPr lang="en-US" sz="1300" dirty="0"/>
            </a:p>
          </p:txBody>
        </p:sp>
        <p:pic>
          <p:nvPicPr>
            <p:cNvPr id="19" name="Image 7" descr="CheckCircle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57950" y="5188613"/>
              <a:ext cx="177800" cy="17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Text 10"/>
            <p:cNvSpPr/>
            <p:nvPr/>
          </p:nvSpPr>
          <p:spPr>
            <a:xfrm>
              <a:off x="6750050" y="5188613"/>
              <a:ext cx="4768025" cy="289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080"/>
                </a:lnSpc>
                <a:buNone/>
              </a:pPr>
              <a:r>
                <a:rPr lang="ja-JP" altLang="en-US" sz="1300">
                  <a:solidFill>
                    <a:srgbClr val="25313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意味</a:t>
              </a:r>
              <a:r>
                <a:rPr lang="en-US" sz="1300">
                  <a:solidFill>
                    <a:srgbClr val="25313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つきの候補から選ぶだけで</a:t>
              </a:r>
              <a:r>
                <a:rPr lang="en-US" sz="1300" dirty="0">
                  <a:solidFill>
                    <a:srgbClr val="25313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、片付けが進む</a:t>
              </a:r>
              <a:endParaRPr lang="en-US" sz="1300" dirty="0"/>
            </a:p>
          </p:txBody>
        </p:sp>
      </p:grpSp>
      <p:sp>
        <p:nvSpPr>
          <p:cNvPr id="22" name="Text 12"/>
          <p:cNvSpPr/>
          <p:nvPr/>
        </p:nvSpPr>
        <p:spPr>
          <a:xfrm>
            <a:off x="11209999" y="6238280"/>
            <a:ext cx="220001" cy="23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2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51318D4-EF09-602D-7644-6360A24573BD}"/>
              </a:ext>
            </a:extLst>
          </p:cNvPr>
          <p:cNvGrpSpPr/>
          <p:nvPr/>
        </p:nvGrpSpPr>
        <p:grpSpPr>
          <a:xfrm>
            <a:off x="557349" y="753133"/>
            <a:ext cx="11138843" cy="1910461"/>
            <a:chOff x="557349" y="707893"/>
            <a:chExt cx="11138843" cy="1910461"/>
          </a:xfrm>
        </p:grpSpPr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5B854C20-B867-D84F-813E-47E57779A889}"/>
                </a:ext>
              </a:extLst>
            </p:cNvPr>
            <p:cNvSpPr/>
            <p:nvPr/>
          </p:nvSpPr>
          <p:spPr>
            <a:xfrm>
              <a:off x="557349" y="707893"/>
              <a:ext cx="11059884" cy="1910461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rgbClr val="F04F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Text 0">
              <a:extLst>
                <a:ext uri="{FF2B5EF4-FFF2-40B4-BE49-F238E27FC236}">
                  <a16:creationId xmlns:a16="http://schemas.microsoft.com/office/drawing/2014/main" id="{450E2BFB-1326-18A9-1D58-48619F893B05}"/>
                </a:ext>
              </a:extLst>
            </p:cNvPr>
            <p:cNvSpPr/>
            <p:nvPr/>
          </p:nvSpPr>
          <p:spPr>
            <a:xfrm>
              <a:off x="812800" y="753133"/>
              <a:ext cx="10883392" cy="274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 kern="0" spc="100" dirty="0">
                  <a:solidFill>
                    <a:srgbClr val="F04F3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課題</a:t>
              </a:r>
              <a:endParaRPr lang="en-US" sz="1400" dirty="0"/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9FD3465F-2C8C-8747-D4FE-DED7EBEE06AB}"/>
                </a:ext>
              </a:extLst>
            </p:cNvPr>
            <p:cNvSpPr/>
            <p:nvPr/>
          </p:nvSpPr>
          <p:spPr>
            <a:xfrm>
              <a:off x="847054" y="1027440"/>
              <a:ext cx="10629392" cy="15070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/>
            </a:bodyPr>
            <a:lstStyle/>
            <a:p>
              <a:pPr marL="457200" indent="-457200" algn="l">
                <a:lnSpc>
                  <a:spcPts val="3680"/>
                </a:lnSpc>
                <a:buFont typeface="Arial" panose="020B0604020202020204" pitchFamily="34" charset="0"/>
                <a:buChar char="•"/>
              </a:pPr>
              <a:r>
                <a:rPr lang="ja-JP" altLang="en-US" sz="1900" dirty="0">
                  <a:solidFill>
                    <a:srgbClr val="17202A"/>
                  </a:solidFill>
                  <a:latin typeface="Noto Sans JP" pitchFamily="34" charset="0"/>
                  <a:ea typeface="Noto Sans JP" pitchFamily="34" charset="-122"/>
                </a:rPr>
                <a:t>探す時間が積み重なる</a:t>
              </a:r>
              <a:endParaRPr lang="en-US" altLang="ja-JP" sz="1900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</a:endParaRPr>
            </a:p>
            <a:p>
              <a:pPr marL="457200" indent="-457200" algn="l">
                <a:lnSpc>
                  <a:spcPts val="3680"/>
                </a:lnSpc>
                <a:buFont typeface="Arial" panose="020B0604020202020204" pitchFamily="34" charset="0"/>
                <a:buChar char="•"/>
              </a:pPr>
              <a:r>
                <a:rPr lang="ja-JP" altLang="en-US" sz="1900" dirty="0">
                  <a:solidFill>
                    <a:srgbClr val="17202A"/>
                  </a:solidFill>
                  <a:latin typeface="Noto Sans JP" pitchFamily="34" charset="0"/>
                  <a:ea typeface="Noto Sans JP" pitchFamily="34" charset="-122"/>
                </a:rPr>
                <a:t>「あとで整理」が積もる</a:t>
              </a:r>
              <a:endParaRPr lang="en-US" altLang="ja-JP" sz="1900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</a:endParaRPr>
            </a:p>
            <a:p>
              <a:pPr marL="457200" indent="-457200" algn="l">
                <a:lnSpc>
                  <a:spcPts val="3680"/>
                </a:lnSpc>
                <a:buFont typeface="Arial" panose="020B0604020202020204" pitchFamily="34" charset="0"/>
                <a:buChar char="•"/>
              </a:pPr>
              <a:r>
                <a:rPr lang="ja-JP" altLang="en-US" sz="1900" dirty="0">
                  <a:solidFill>
                    <a:srgbClr val="17202A"/>
                  </a:solidFill>
                  <a:latin typeface="Noto Sans JP" pitchFamily="34" charset="0"/>
                  <a:ea typeface="Noto Sans JP" pitchFamily="34" charset="-122"/>
                </a:rPr>
                <a:t>消す判断が出来ない　　　　　　　　</a:t>
              </a:r>
              <a:r>
                <a:rPr lang="ja-JP" altLang="en-US" b="1" dirty="0">
                  <a:solidFill>
                    <a:srgbClr val="F04F35"/>
                  </a:solidFill>
                  <a:latin typeface="Noto Sans JP" pitchFamily="34" charset="0"/>
                  <a:ea typeface="Noto Sans JP" pitchFamily="34" charset="-122"/>
                </a:rPr>
                <a:t>へのアプローチ！！</a:t>
              </a:r>
              <a:endParaRPr lang="en-US" dirty="0">
                <a:solidFill>
                  <a:srgbClr val="F04F35"/>
                </a:solidFill>
              </a:endParaRPr>
            </a:p>
          </p:txBody>
        </p:sp>
      </p:grpSp>
      <p:sp>
        <p:nvSpPr>
          <p:cNvPr id="27" name="Text 1">
            <a:extLst>
              <a:ext uri="{FF2B5EF4-FFF2-40B4-BE49-F238E27FC236}">
                <a16:creationId xmlns:a16="http://schemas.microsoft.com/office/drawing/2014/main" id="{CB37A6F2-3102-0F51-F3E8-FD3C26BB9833}"/>
              </a:ext>
            </a:extLst>
          </p:cNvPr>
          <p:cNvSpPr/>
          <p:nvPr/>
        </p:nvSpPr>
        <p:spPr>
          <a:xfrm>
            <a:off x="4972860" y="371893"/>
            <a:ext cx="2995144" cy="4241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ja-JP" altLang="en-US" sz="3600" b="1" kern="0" spc="200" dirty="0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A88F146-EF4D-1E83-F116-8DC8FD368BC7}"/>
              </a:ext>
            </a:extLst>
          </p:cNvPr>
          <p:cNvSpPr/>
          <p:nvPr/>
        </p:nvSpPr>
        <p:spPr>
          <a:xfrm>
            <a:off x="120650" y="6592178"/>
            <a:ext cx="3924300" cy="256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8A9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チーム：Belphegor（金の卵）</a:t>
            </a:r>
            <a:endParaRPr lang="en-US" sz="130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84E6A774-83B7-EE46-5765-641895ABDF6A}"/>
              </a:ext>
            </a:extLst>
          </p:cNvPr>
          <p:cNvSpPr/>
          <p:nvPr/>
        </p:nvSpPr>
        <p:spPr>
          <a:xfrm>
            <a:off x="762000" y="5702822"/>
            <a:ext cx="10720251" cy="8679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590"/>
              </a:lnSpc>
              <a:buNone/>
            </a:pPr>
            <a:r>
              <a:rPr lang="en-US" sz="43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整理も、</a:t>
            </a:r>
            <a:r>
              <a:rPr lang="en-US" sz="4300" b="1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その後の管理も、</a:t>
            </a:r>
            <a:r>
              <a:rPr lang="en-US" sz="4300" b="1">
                <a:solidFill>
                  <a:srgbClr val="F04F3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おまかせ</a:t>
            </a:r>
            <a:r>
              <a:rPr lang="en-US" sz="4300" b="1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en-US" sz="4300" b="1" dirty="0">
                <a:solidFill>
                  <a:srgbClr val="1720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43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回路">
  <a:themeElements>
    <a:clrScheme name="黄色がかったオレンジ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回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回路</Template>
  <TotalTime>147</TotalTime>
  <Words>327</Words>
  <Application>Microsoft Office PowerPoint</Application>
  <PresentationFormat>ワイド画面</PresentationFormat>
  <Paragraphs>104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Noto Sans JP</vt:lpstr>
      <vt:lpstr>Arial</vt:lpstr>
      <vt:lpstr>Tw Cen MT</vt:lpstr>
      <vt:lpstr>回路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おまかせ整理Bot ご紹介</dc:title>
  <dc:subject>PptxGenJS Presentation</dc:subject>
  <dc:creator>PptxGenJS</dc:creator>
  <cp:lastModifiedBy>粂　汰燈</cp:lastModifiedBy>
  <cp:revision>8</cp:revision>
  <dcterms:created xsi:type="dcterms:W3CDTF">2026-09-17T04:13:06Z</dcterms:created>
  <dcterms:modified xsi:type="dcterms:W3CDTF">2026-09-17T07:19:21Z</dcterms:modified>
</cp:coreProperties>
</file>